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6256000" cy="9144000"/>
  <p:notesSz cx="9144000" cy="16256000"/>
  <p:embeddedFontLst>
    <p:embeddedFont>
      <p:font typeface="Inter" charset="-122" pitchFamily="34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accent"/>
          <p:cNvSpPr/>
          <p:nvPr/>
        </p:nvSpPr>
        <p:spPr>
          <a:xfrm>
            <a:off x="762000" y="1473200"/>
            <a:ext cx="1397000" cy="635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cover-eyebrow"/>
          <p:cNvSpPr/>
          <p:nvPr/>
        </p:nvSpPr>
        <p:spPr>
          <a:xfrm>
            <a:off x="762000" y="7874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RECEPCJA TELEFONICZNA AI • FIRMY USŁUGOWE W POLSCE</a:t>
            </a:r>
            <a:endParaRPr lang="en-US" sz="1600" dirty="0"/>
          </a:p>
        </p:txBody>
      </p:sp>
      <p:sp>
        <p:nvSpPr>
          <p:cNvPr id="4" name="cover-title"/>
          <p:cNvSpPr/>
          <p:nvPr/>
        </p:nvSpPr>
        <p:spPr>
          <a:xfrm>
            <a:off x="762000" y="1968500"/>
            <a:ext cx="1117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Każdy wartościowy telefon</a:t>
            </a:r>
            <a:endParaRPr lang="en-US" sz="5400" dirty="0"/>
          </a:p>
          <a:p>
            <a:pPr algn="l" indent="0" marL="0">
              <a:lnSpc>
                <a:spcPts val="5724"/>
              </a:lnSpc>
              <a:buNone/>
            </a:pPr>
            <a:r>
              <a:rPr lang="en-US" altLang="en-US" sz="5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powinien dostać odpowiedź.</a:t>
            </a:r>
            <a:endParaRPr lang="en-US" sz="5400" dirty="0"/>
          </a:p>
        </p:txBody>
      </p:sp>
      <p:sp>
        <p:nvSpPr>
          <p:cNvPr id="5" name="cover-subtitle"/>
          <p:cNvSpPr/>
          <p:nvPr/>
        </p:nvSpPr>
        <p:spPr>
          <a:xfrm>
            <a:off x="762000" y="4241800"/>
            <a:ext cx="965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90"/>
              </a:lnSpc>
              <a:buNone/>
            </a:pPr>
            <a:r>
              <a:rPr lang="en-US" altLang="en-US" sz="23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Wdrażamy proces odbioru, kwalifikacji i rezerwacji — 24/7, według zasad Twojej firmy.</a:t>
            </a:r>
            <a:endParaRPr lang="en-US" sz="2300" dirty="0"/>
          </a:p>
        </p:txBody>
      </p:sp>
      <p:sp>
        <p:nvSpPr>
          <p:cNvPr id="6" name="cover-card"/>
          <p:cNvSpPr/>
          <p:nvPr/>
        </p:nvSpPr>
        <p:spPr>
          <a:xfrm>
            <a:off x="762000" y="6248400"/>
            <a:ext cx="9017000" cy="1498600"/>
          </a:xfrm>
          <a:prstGeom prst="roundRect">
            <a:avLst>
              <a:gd name="adj" fmla="val 847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cover-phon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6705600"/>
            <a:ext cx="533400" cy="533400"/>
          </a:xfrm>
          <a:prstGeom prst="rect">
            <a:avLst/>
          </a:prstGeom>
        </p:spPr>
      </p:pic>
      <p:sp>
        <p:nvSpPr>
          <p:cNvPr id="8" name="cover-card-copy"/>
          <p:cNvSpPr/>
          <p:nvPr/>
        </p:nvSpPr>
        <p:spPr>
          <a:xfrm>
            <a:off x="1981200" y="6540500"/>
            <a:ext cx="7239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altLang="en-US" sz="1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sprzedajemy bota.</a:t>
            </a:r>
            <a:endParaRPr lang="en-US" sz="1900" dirty="0"/>
          </a:p>
          <a:p>
            <a:pPr algn="l" indent="0" marL="0">
              <a:lnSpc>
                <a:spcPts val="2565"/>
              </a:lnSpc>
              <a:buNone/>
            </a:pPr>
            <a:r>
              <a:rPr lang="en-US" altLang="en-US" sz="1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Wdrażamy działający proces obsługi telefonu od pierwszego „dzień dobry” do następnego kroku.</a:t>
            </a:r>
            <a:endParaRPr lang="en-US" sz="1900" dirty="0"/>
          </a:p>
        </p:txBody>
      </p:sp>
      <p:pic>
        <p:nvPicPr>
          <p:cNvPr id="9" name="cover-decor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2293600" y="3390900"/>
            <a:ext cx="3048000" cy="3048000"/>
          </a:xfrm>
          <a:prstGeom prst="rect">
            <a:avLst/>
          </a:prstGeom>
        </p:spPr>
      </p:pic>
      <p:sp>
        <p:nvSpPr>
          <p:cNvPr id="10" name="cover-bottom-rule"/>
          <p:cNvSpPr/>
          <p:nvPr/>
        </p:nvSpPr>
        <p:spPr>
          <a:xfrm>
            <a:off x="762000" y="8331200"/>
            <a:ext cx="147320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11" name="cover-footer"/>
          <p:cNvSpPr/>
          <p:nvPr/>
        </p:nvSpPr>
        <p:spPr>
          <a:xfrm>
            <a:off x="762000" y="85344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 PRODUKTOWA • WDROŻENIE I OBSŁUGA 24/7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accent"/>
          <p:cNvSpPr/>
          <p:nvPr/>
        </p:nvSpPr>
        <p:spPr>
          <a:xfrm>
            <a:off x="762000" y="660400"/>
            <a:ext cx="508000" cy="508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lide-title"/>
          <p:cNvSpPr/>
          <p:nvPr/>
        </p:nvSpPr>
        <p:spPr>
          <a:xfrm>
            <a:off x="762000" y="914400"/>
            <a:ext cx="1371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Telefon nie powinien być wąskim gardłem sprzedaży</a:t>
            </a:r>
            <a:endParaRPr lang="en-US" sz="3200" dirty="0"/>
          </a:p>
        </p:txBody>
      </p:sp>
      <p:sp>
        <p:nvSpPr>
          <p:cNvPr id="4" name="title-divider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5" name="intro"/>
          <p:cNvSpPr/>
          <p:nvPr/>
        </p:nvSpPr>
        <p:spPr>
          <a:xfrm>
            <a:off x="762000" y="2006600"/>
            <a:ext cx="7366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altLang="en-US" sz="2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Wartościowe rozmowy wpadają wtedy, gdy zespół realizuje już pracę — nie wtedy, gdy ma wolną rękę.</a:t>
            </a:r>
            <a:endParaRPr lang="en-US" sz="2000" dirty="0"/>
          </a:p>
        </p:txBody>
      </p:sp>
      <p:sp>
        <p:nvSpPr>
          <p:cNvPr id="6" name="pain-card"/>
          <p:cNvSpPr/>
          <p:nvPr/>
        </p:nvSpPr>
        <p:spPr>
          <a:xfrm>
            <a:off x="762000" y="3073400"/>
            <a:ext cx="7366000" cy="3733800"/>
          </a:xfrm>
          <a:prstGeom prst="roundRect">
            <a:avLst>
              <a:gd name="adj" fmla="val 2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pain-on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3479800"/>
            <a:ext cx="431800" cy="431800"/>
          </a:xfrm>
          <a:prstGeom prst="rect">
            <a:avLst/>
          </a:prstGeom>
        </p:spPr>
      </p:pic>
      <p:sp>
        <p:nvSpPr>
          <p:cNvPr id="8" name="pain-one"/>
          <p:cNvSpPr/>
          <p:nvPr/>
        </p:nvSpPr>
        <p:spPr>
          <a:xfrm>
            <a:off x="1828800" y="3352800"/>
            <a:ext cx="5651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altLang="en-US" sz="1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Zespół jest przy kliencie</a:t>
            </a:r>
            <a:endParaRPr lang="en-US" sz="1900" dirty="0"/>
          </a:p>
          <a:p>
            <a:pPr algn="l" indent="0" marL="0">
              <a:lnSpc>
                <a:spcPts val="2470"/>
              </a:lnSpc>
              <a:buNone/>
            </a:pPr>
            <a:r>
              <a:rPr lang="en-US" altLang="en-US" sz="1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Telefon konkuruje z realizacją usługi.</a:t>
            </a:r>
            <a:endParaRPr lang="en-US" sz="1900" dirty="0"/>
          </a:p>
        </p:txBody>
      </p:sp>
      <p:sp>
        <p:nvSpPr>
          <p:cNvPr id="9" name="pain-line-one"/>
          <p:cNvSpPr/>
          <p:nvPr/>
        </p:nvSpPr>
        <p:spPr>
          <a:xfrm>
            <a:off x="1117600" y="4356100"/>
            <a:ext cx="58928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pic>
        <p:nvPicPr>
          <p:cNvPr id="10" name="pain-two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4699000"/>
            <a:ext cx="431800" cy="431800"/>
          </a:xfrm>
          <a:prstGeom prst="rect">
            <a:avLst/>
          </a:prstGeom>
        </p:spPr>
      </p:pic>
      <p:sp>
        <p:nvSpPr>
          <p:cNvPr id="11" name="pain-two"/>
          <p:cNvSpPr/>
          <p:nvPr/>
        </p:nvSpPr>
        <p:spPr>
          <a:xfrm>
            <a:off x="1828800" y="4572000"/>
            <a:ext cx="5651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altLang="en-US" sz="1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Firma jest poza godzinami pracy</a:t>
            </a:r>
            <a:endParaRPr lang="en-US" sz="1900" dirty="0"/>
          </a:p>
          <a:p>
            <a:pPr algn="l" indent="0" marL="0">
              <a:lnSpc>
                <a:spcPts val="2470"/>
              </a:lnSpc>
              <a:buNone/>
            </a:pPr>
            <a:r>
              <a:rPr lang="en-US" altLang="en-US" sz="1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Dzwoniący nie dostaje kolejnego kroku.</a:t>
            </a:r>
            <a:endParaRPr lang="en-US" sz="1900" dirty="0"/>
          </a:p>
        </p:txBody>
      </p:sp>
      <p:sp>
        <p:nvSpPr>
          <p:cNvPr id="12" name="pain-line-two"/>
          <p:cNvSpPr/>
          <p:nvPr/>
        </p:nvSpPr>
        <p:spPr>
          <a:xfrm>
            <a:off x="1117600" y="5575300"/>
            <a:ext cx="58928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pic>
        <p:nvPicPr>
          <p:cNvPr id="13" name="pain-three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5892800"/>
            <a:ext cx="431800" cy="431800"/>
          </a:xfrm>
          <a:prstGeom prst="rect">
            <a:avLst/>
          </a:prstGeom>
        </p:spPr>
      </p:pic>
      <p:sp>
        <p:nvSpPr>
          <p:cNvPr id="14" name="pain-three"/>
          <p:cNvSpPr/>
          <p:nvPr/>
        </p:nvSpPr>
        <p:spPr>
          <a:xfrm>
            <a:off x="1828800" y="5778500"/>
            <a:ext cx="5651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0"/>
              </a:lnSpc>
              <a:buNone/>
            </a:pPr>
            <a:r>
              <a:rPr lang="en-US" altLang="en-US" sz="1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Brakuje kompletnego kontekstu</a:t>
            </a:r>
            <a:endParaRPr lang="en-US" sz="1900" dirty="0"/>
          </a:p>
          <a:p>
            <a:pPr algn="l" indent="0" marL="0">
              <a:lnSpc>
                <a:spcPts val="2470"/>
              </a:lnSpc>
              <a:buNone/>
            </a:pPr>
            <a:r>
              <a:rPr lang="en-US" altLang="en-US" sz="19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Oddzwonienie zaczyna się od pytań od zera.</a:t>
            </a:r>
            <a:endParaRPr lang="en-US" sz="1900" dirty="0"/>
          </a:p>
        </p:txBody>
      </p:sp>
      <p:sp>
        <p:nvSpPr>
          <p:cNvPr id="15" name="diagram-label"/>
          <p:cNvSpPr/>
          <p:nvPr/>
        </p:nvSpPr>
        <p:spPr>
          <a:xfrm>
            <a:off x="9398000" y="2184400"/>
            <a:ext cx="546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 DZIEJE SIĘ BEZ PROCESU</a:t>
            </a:r>
            <a:endParaRPr lang="en-US" sz="1800" dirty="0"/>
          </a:p>
        </p:txBody>
      </p:sp>
      <p:sp>
        <p:nvSpPr>
          <p:cNvPr id="16" name="diagram-step-one"/>
          <p:cNvSpPr/>
          <p:nvPr/>
        </p:nvSpPr>
        <p:spPr>
          <a:xfrm>
            <a:off x="9398000" y="2794000"/>
            <a:ext cx="5461000" cy="9906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diagram-step-one-text"/>
          <p:cNvSpPr/>
          <p:nvPr/>
        </p:nvSpPr>
        <p:spPr>
          <a:xfrm>
            <a:off x="9715500" y="3048000"/>
            <a:ext cx="444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Telefon wpada w złym momencie</a:t>
            </a:r>
            <a:endParaRPr lang="en-US" sz="2000" dirty="0"/>
          </a:p>
        </p:txBody>
      </p:sp>
      <p:sp>
        <p:nvSpPr>
          <p:cNvPr id="18" name="diagram-arrow-one"/>
          <p:cNvSpPr/>
          <p:nvPr/>
        </p:nvSpPr>
        <p:spPr>
          <a:xfrm>
            <a:off x="12128500" y="3797300"/>
            <a:ext cx="9144" cy="533400"/>
          </a:xfrm>
          <a:prstGeom prst="line">
            <a:avLst/>
          </a:prstGeom>
          <a:ln w="38100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19" name="diagram-step-two"/>
          <p:cNvSpPr/>
          <p:nvPr/>
        </p:nvSpPr>
        <p:spPr>
          <a:xfrm>
            <a:off x="9398000" y="4368800"/>
            <a:ext cx="5461000" cy="9906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diagram-step-two-text"/>
          <p:cNvSpPr/>
          <p:nvPr/>
        </p:nvSpPr>
        <p:spPr>
          <a:xfrm>
            <a:off x="9715500" y="4610100"/>
            <a:ext cx="444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 rozmowy albo niepełna notatka</a:t>
            </a:r>
            <a:endParaRPr lang="en-US" sz="2000" dirty="0"/>
          </a:p>
        </p:txBody>
      </p:sp>
      <p:sp>
        <p:nvSpPr>
          <p:cNvPr id="21" name="diagram-arrow-two"/>
          <p:cNvSpPr/>
          <p:nvPr/>
        </p:nvSpPr>
        <p:spPr>
          <a:xfrm>
            <a:off x="12128500" y="5372100"/>
            <a:ext cx="9144" cy="533400"/>
          </a:xfrm>
          <a:prstGeom prst="line">
            <a:avLst/>
          </a:prstGeom>
          <a:ln w="38100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22" name="diagram-step-three"/>
          <p:cNvSpPr/>
          <p:nvPr/>
        </p:nvSpPr>
        <p:spPr>
          <a:xfrm>
            <a:off x="9398000" y="5943600"/>
            <a:ext cx="5461000" cy="990600"/>
          </a:xfrm>
          <a:prstGeom prst="roundRect">
            <a:avLst>
              <a:gd name="adj" fmla="val 10256"/>
            </a:avLst>
          </a:prstGeom>
          <a:solidFill>
            <a:srgbClr val="EAF5FC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3" name="diagram-step-three-text"/>
          <p:cNvSpPr/>
          <p:nvPr/>
        </p:nvSpPr>
        <p:spPr>
          <a:xfrm>
            <a:off x="9715500" y="6197600"/>
            <a:ext cx="444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Właściciel nie widzi pełnego obrazu</a:t>
            </a:r>
            <a:endParaRPr lang="en-US" sz="2000" dirty="0"/>
          </a:p>
        </p:txBody>
      </p:sp>
      <p:sp>
        <p:nvSpPr>
          <p:cNvPr id="24" name="footer-brand"/>
          <p:cNvSpPr/>
          <p:nvPr/>
        </p:nvSpPr>
        <p:spPr>
          <a:xfrm>
            <a:off x="762000" y="85852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RECEPCJA TELEFONICZNA AI</a:t>
            </a:r>
            <a:endParaRPr lang="en-US" sz="1300" dirty="0"/>
          </a:p>
        </p:txBody>
      </p:sp>
      <p:sp>
        <p:nvSpPr>
          <p:cNvPr id="25" name="footer-number"/>
          <p:cNvSpPr/>
          <p:nvPr/>
        </p:nvSpPr>
        <p:spPr>
          <a:xfrm>
            <a:off x="14859000" y="85852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accent"/>
          <p:cNvSpPr/>
          <p:nvPr/>
        </p:nvSpPr>
        <p:spPr>
          <a:xfrm>
            <a:off x="762000" y="660400"/>
            <a:ext cx="508000" cy="508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lide-title"/>
          <p:cNvSpPr/>
          <p:nvPr/>
        </p:nvSpPr>
        <p:spPr>
          <a:xfrm>
            <a:off x="762000" y="914400"/>
            <a:ext cx="1371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bot. Działający proces obsługi telefonu</a:t>
            </a:r>
            <a:endParaRPr lang="en-US" sz="3200" dirty="0"/>
          </a:p>
        </p:txBody>
      </p:sp>
      <p:sp>
        <p:nvSpPr>
          <p:cNvPr id="4" name="title-divider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5" name="thesis"/>
          <p:cNvSpPr/>
          <p:nvPr/>
        </p:nvSpPr>
        <p:spPr>
          <a:xfrm>
            <a:off x="762000" y="2082800"/>
            <a:ext cx="1092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altLang="en-US" sz="21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Jeden telefon powinien prowadzić do jednego z trzech wyników: rezerwacji, gotowego leada albo przekazania do człowieka.</a:t>
            </a:r>
            <a:endParaRPr lang="en-US" sz="2100" dirty="0"/>
          </a:p>
        </p:txBody>
      </p:sp>
      <p:sp>
        <p:nvSpPr>
          <p:cNvPr id="6" name="flow-card-one"/>
          <p:cNvSpPr/>
          <p:nvPr/>
        </p:nvSpPr>
        <p:spPr>
          <a:xfrm>
            <a:off x="762000" y="3505200"/>
            <a:ext cx="3302000" cy="3022600"/>
          </a:xfrm>
          <a:prstGeom prst="roundRect">
            <a:avLst>
              <a:gd name="adj" fmla="val 33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flow-icon-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00" y="3898900"/>
            <a:ext cx="508000" cy="508000"/>
          </a:xfrm>
          <a:prstGeom prst="rect">
            <a:avLst/>
          </a:prstGeom>
        </p:spPr>
      </p:pic>
      <p:sp>
        <p:nvSpPr>
          <p:cNvPr id="8" name="flow-step-one"/>
          <p:cNvSpPr/>
          <p:nvPr/>
        </p:nvSpPr>
        <p:spPr>
          <a:xfrm>
            <a:off x="1092200" y="4699000"/>
            <a:ext cx="25400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altLang="en-US" sz="2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Odbiera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alt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Przedstawia firmę i od razu rozpoczyna rozmowę.</a:t>
            </a:r>
            <a:endParaRPr lang="en-US" sz="2000" dirty="0"/>
          </a:p>
        </p:txBody>
      </p:sp>
      <p:sp>
        <p:nvSpPr>
          <p:cNvPr id="9" name="flow-arrow-one"/>
          <p:cNvSpPr/>
          <p:nvPr/>
        </p:nvSpPr>
        <p:spPr>
          <a:xfrm>
            <a:off x="4076700" y="5003800"/>
            <a:ext cx="444500" cy="9144"/>
          </a:xfrm>
          <a:prstGeom prst="line">
            <a:avLst/>
          </a:prstGeom>
          <a:ln w="38100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10" name="flow-card-two"/>
          <p:cNvSpPr/>
          <p:nvPr/>
        </p:nvSpPr>
        <p:spPr>
          <a:xfrm>
            <a:off x="4572000" y="3505200"/>
            <a:ext cx="3302000" cy="3022600"/>
          </a:xfrm>
          <a:prstGeom prst="roundRect">
            <a:avLst>
              <a:gd name="adj" fmla="val 33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flow-icon-tw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00" y="3898900"/>
            <a:ext cx="508000" cy="508000"/>
          </a:xfrm>
          <a:prstGeom prst="rect">
            <a:avLst/>
          </a:prstGeom>
        </p:spPr>
      </p:pic>
      <p:sp>
        <p:nvSpPr>
          <p:cNvPr id="12" name="flow-step-two"/>
          <p:cNvSpPr/>
          <p:nvPr/>
        </p:nvSpPr>
        <p:spPr>
          <a:xfrm>
            <a:off x="4902200" y="4699000"/>
            <a:ext cx="25400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altLang="en-US" sz="2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Kwalifikuje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alt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Zadaje ustalone pytania i rozpoznaje pilność sprawy.</a:t>
            </a:r>
            <a:endParaRPr lang="en-US" sz="2000" dirty="0"/>
          </a:p>
        </p:txBody>
      </p:sp>
      <p:sp>
        <p:nvSpPr>
          <p:cNvPr id="13" name="flow-arrow-two"/>
          <p:cNvSpPr/>
          <p:nvPr/>
        </p:nvSpPr>
        <p:spPr>
          <a:xfrm>
            <a:off x="7886700" y="5003800"/>
            <a:ext cx="444500" cy="9144"/>
          </a:xfrm>
          <a:prstGeom prst="line">
            <a:avLst/>
          </a:prstGeom>
          <a:ln w="38100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14" name="flow-card-three"/>
          <p:cNvSpPr/>
          <p:nvPr/>
        </p:nvSpPr>
        <p:spPr>
          <a:xfrm>
            <a:off x="8382000" y="3505200"/>
            <a:ext cx="3302000" cy="3022600"/>
          </a:xfrm>
          <a:prstGeom prst="roundRect">
            <a:avLst>
              <a:gd name="adj" fmla="val 33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flow-icon-thre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200" y="3898900"/>
            <a:ext cx="508000" cy="508000"/>
          </a:xfrm>
          <a:prstGeom prst="rect">
            <a:avLst/>
          </a:prstGeom>
        </p:spPr>
      </p:pic>
      <p:sp>
        <p:nvSpPr>
          <p:cNvPr id="16" name="flow-step-three"/>
          <p:cNvSpPr/>
          <p:nvPr/>
        </p:nvSpPr>
        <p:spPr>
          <a:xfrm>
            <a:off x="8712200" y="4699000"/>
            <a:ext cx="25400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altLang="en-US" sz="2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Rezerwuje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alt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Proponuje dostępny termin według reguł firmy.</a:t>
            </a:r>
            <a:endParaRPr lang="en-US" sz="2000" dirty="0"/>
          </a:p>
        </p:txBody>
      </p:sp>
      <p:sp>
        <p:nvSpPr>
          <p:cNvPr id="17" name="flow-arrow-three"/>
          <p:cNvSpPr/>
          <p:nvPr/>
        </p:nvSpPr>
        <p:spPr>
          <a:xfrm>
            <a:off x="11696700" y="5003800"/>
            <a:ext cx="444500" cy="9144"/>
          </a:xfrm>
          <a:prstGeom prst="line">
            <a:avLst/>
          </a:prstGeom>
          <a:ln w="38100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18" name="flow-card-four"/>
          <p:cNvSpPr/>
          <p:nvPr/>
        </p:nvSpPr>
        <p:spPr>
          <a:xfrm>
            <a:off x="12192000" y="3505200"/>
            <a:ext cx="3302000" cy="3022600"/>
          </a:xfrm>
          <a:prstGeom prst="roundRect">
            <a:avLst>
              <a:gd name="adj" fmla="val 3361"/>
            </a:avLst>
          </a:prstGeom>
          <a:solidFill>
            <a:srgbClr val="EAF5FC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9" name="flow-icon-fou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2200" y="3898900"/>
            <a:ext cx="508000" cy="508000"/>
          </a:xfrm>
          <a:prstGeom prst="rect">
            <a:avLst/>
          </a:prstGeom>
        </p:spPr>
      </p:pic>
      <p:sp>
        <p:nvSpPr>
          <p:cNvPr id="20" name="flow-step-four"/>
          <p:cNvSpPr/>
          <p:nvPr/>
        </p:nvSpPr>
        <p:spPr>
          <a:xfrm>
            <a:off x="12522200" y="4699000"/>
            <a:ext cx="254000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altLang="en-US" sz="2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Przekazuje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altLang="en-US" sz="20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Zespół otrzymuje pełny kontekst i wie, co zrobić dalej.</a:t>
            </a:r>
            <a:endParaRPr lang="en-US" sz="2000" dirty="0"/>
          </a:p>
        </p:txBody>
      </p:sp>
      <p:sp>
        <p:nvSpPr>
          <p:cNvPr id="21" name="flow-caption"/>
          <p:cNvSpPr/>
          <p:nvPr/>
        </p:nvSpPr>
        <p:spPr>
          <a:xfrm>
            <a:off x="762000" y="7048500"/>
            <a:ext cx="1270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 jest projektowany pod firmę — nie firma pod sztywny skrypt.</a:t>
            </a:r>
            <a:endParaRPr lang="en-US" sz="1700" dirty="0"/>
          </a:p>
        </p:txBody>
      </p:sp>
      <p:sp>
        <p:nvSpPr>
          <p:cNvPr id="22" name="footer-brand"/>
          <p:cNvSpPr/>
          <p:nvPr/>
        </p:nvSpPr>
        <p:spPr>
          <a:xfrm>
            <a:off x="762000" y="85852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RECEPCJA TELEFONICZNA AI</a:t>
            </a:r>
            <a:endParaRPr lang="en-US" sz="1300" dirty="0"/>
          </a:p>
        </p:txBody>
      </p:sp>
      <p:sp>
        <p:nvSpPr>
          <p:cNvPr id="23" name="footer-number"/>
          <p:cNvSpPr/>
          <p:nvPr/>
        </p:nvSpPr>
        <p:spPr>
          <a:xfrm>
            <a:off x="14859000" y="85852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accent"/>
          <p:cNvSpPr/>
          <p:nvPr/>
        </p:nvSpPr>
        <p:spPr>
          <a:xfrm>
            <a:off x="762000" y="660400"/>
            <a:ext cx="508000" cy="508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lide-title"/>
          <p:cNvSpPr/>
          <p:nvPr/>
        </p:nvSpPr>
        <p:spPr>
          <a:xfrm>
            <a:off x="762000" y="914400"/>
            <a:ext cx="1371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Klient słyszy odpowiedź, zespół dostaje kontekst</a:t>
            </a:r>
            <a:endParaRPr lang="en-US" sz="3200" dirty="0"/>
          </a:p>
        </p:txBody>
      </p:sp>
      <p:sp>
        <p:nvSpPr>
          <p:cNvPr id="4" name="title-divider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5" name="intro"/>
          <p:cNvSpPr/>
          <p:nvPr/>
        </p:nvSpPr>
        <p:spPr>
          <a:xfrm>
            <a:off x="762000" y="2070100"/>
            <a:ext cx="1333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Zachowanie asystenta jest określone z góry dla najważniejszych sytuacji — bez zgadywania i bez improwizacji.</a:t>
            </a:r>
            <a:endParaRPr lang="en-US" sz="2000" dirty="0"/>
          </a:p>
        </p:txBody>
      </p:sp>
      <p:sp>
        <p:nvSpPr>
          <p:cNvPr id="6" name="lead-card"/>
          <p:cNvSpPr/>
          <p:nvPr/>
        </p:nvSpPr>
        <p:spPr>
          <a:xfrm>
            <a:off x="762000" y="2946400"/>
            <a:ext cx="7112000" cy="210820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lead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00" y="3289300"/>
            <a:ext cx="533400" cy="533400"/>
          </a:xfrm>
          <a:prstGeom prst="rect">
            <a:avLst/>
          </a:prstGeom>
        </p:spPr>
      </p:pic>
      <p:sp>
        <p:nvSpPr>
          <p:cNvPr id="8" name="lead-title"/>
          <p:cNvSpPr/>
          <p:nvPr/>
        </p:nvSpPr>
        <p:spPr>
          <a:xfrm>
            <a:off x="1930400" y="3187700"/>
            <a:ext cx="495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Nowe zapytanie</a:t>
            </a:r>
            <a:endParaRPr lang="en-US" sz="2100" dirty="0"/>
          </a:p>
        </p:txBody>
      </p:sp>
      <p:sp>
        <p:nvSpPr>
          <p:cNvPr id="9" name="lead-copy"/>
          <p:cNvSpPr/>
          <p:nvPr/>
        </p:nvSpPr>
        <p:spPr>
          <a:xfrm>
            <a:off x="1930400" y="3644900"/>
            <a:ext cx="518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Zbiera dane kontaktowe, potrzebę, lokalizację i preferowany termin. Zespół otrzymuje gotowy lead.</a:t>
            </a:r>
            <a:endParaRPr lang="en-US" sz="1700" dirty="0"/>
          </a:p>
        </p:txBody>
      </p:sp>
      <p:sp>
        <p:nvSpPr>
          <p:cNvPr id="10" name="urgent-card"/>
          <p:cNvSpPr/>
          <p:nvPr/>
        </p:nvSpPr>
        <p:spPr>
          <a:xfrm>
            <a:off x="8382000" y="2946400"/>
            <a:ext cx="7112000" cy="2108200"/>
          </a:xfrm>
          <a:prstGeom prst="roundRect">
            <a:avLst>
              <a:gd name="adj" fmla="val 4819"/>
            </a:avLst>
          </a:prstGeom>
          <a:solidFill>
            <a:srgbClr val="EAF5FC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1" name="urgent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200" y="3289300"/>
            <a:ext cx="533400" cy="533400"/>
          </a:xfrm>
          <a:prstGeom prst="rect">
            <a:avLst/>
          </a:prstGeom>
        </p:spPr>
      </p:pic>
      <p:sp>
        <p:nvSpPr>
          <p:cNvPr id="12" name="urgent-title"/>
          <p:cNvSpPr/>
          <p:nvPr/>
        </p:nvSpPr>
        <p:spPr>
          <a:xfrm>
            <a:off x="9550400" y="3187700"/>
            <a:ext cx="495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Sprawa pilna</a:t>
            </a:r>
            <a:endParaRPr lang="en-US" sz="2100" dirty="0"/>
          </a:p>
        </p:txBody>
      </p:sp>
      <p:sp>
        <p:nvSpPr>
          <p:cNvPr id="13" name="urgent-copy"/>
          <p:cNvSpPr/>
          <p:nvPr/>
        </p:nvSpPr>
        <p:spPr>
          <a:xfrm>
            <a:off x="9550400" y="3644900"/>
            <a:ext cx="518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Rozpoznaje ustalone kryterium pilności i przekazuje rozmowę albo alert do dyżurnego.</a:t>
            </a:r>
            <a:endParaRPr lang="en-US" sz="1700" dirty="0"/>
          </a:p>
        </p:txBody>
      </p:sp>
      <p:sp>
        <p:nvSpPr>
          <p:cNvPr id="14" name="faq-card"/>
          <p:cNvSpPr/>
          <p:nvPr/>
        </p:nvSpPr>
        <p:spPr>
          <a:xfrm>
            <a:off x="762000" y="5410200"/>
            <a:ext cx="7112000" cy="210820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faq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5753100"/>
            <a:ext cx="533400" cy="533400"/>
          </a:xfrm>
          <a:prstGeom prst="rect">
            <a:avLst/>
          </a:prstGeom>
        </p:spPr>
      </p:pic>
      <p:sp>
        <p:nvSpPr>
          <p:cNvPr id="16" name="faq-title"/>
          <p:cNvSpPr/>
          <p:nvPr/>
        </p:nvSpPr>
        <p:spPr>
          <a:xfrm>
            <a:off x="1930400" y="5651500"/>
            <a:ext cx="495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Pytanie standardowe</a:t>
            </a:r>
            <a:endParaRPr lang="en-US" sz="2100" dirty="0"/>
          </a:p>
        </p:txBody>
      </p:sp>
      <p:sp>
        <p:nvSpPr>
          <p:cNvPr id="17" name="faq-copy"/>
          <p:cNvSpPr/>
          <p:nvPr/>
        </p:nvSpPr>
        <p:spPr>
          <a:xfrm>
            <a:off x="1930400" y="6108700"/>
            <a:ext cx="518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Podaje zatwierdzoną informację o ofercie, godzinach, obszarze działania lub kolejnym kroku.</a:t>
            </a:r>
            <a:endParaRPr lang="en-US" sz="1700" dirty="0"/>
          </a:p>
        </p:txBody>
      </p:sp>
      <p:sp>
        <p:nvSpPr>
          <p:cNvPr id="18" name="handoff-card"/>
          <p:cNvSpPr/>
          <p:nvPr/>
        </p:nvSpPr>
        <p:spPr>
          <a:xfrm>
            <a:off x="8382000" y="5410200"/>
            <a:ext cx="7112000" cy="2108200"/>
          </a:xfrm>
          <a:prstGeom prst="roundRect">
            <a:avLst>
              <a:gd name="adj" fmla="val 48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handoff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200" y="5753100"/>
            <a:ext cx="533400" cy="533400"/>
          </a:xfrm>
          <a:prstGeom prst="rect">
            <a:avLst/>
          </a:prstGeom>
        </p:spPr>
      </p:pic>
      <p:sp>
        <p:nvSpPr>
          <p:cNvPr id="20" name="handoff-title"/>
          <p:cNvSpPr/>
          <p:nvPr/>
        </p:nvSpPr>
        <p:spPr>
          <a:xfrm>
            <a:off x="9550400" y="5651500"/>
            <a:ext cx="4953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Sprawa niejednoznaczna</a:t>
            </a:r>
            <a:endParaRPr lang="en-US" sz="2100" dirty="0"/>
          </a:p>
        </p:txBody>
      </p:sp>
      <p:sp>
        <p:nvSpPr>
          <p:cNvPr id="21" name="handoff-copy"/>
          <p:cNvSpPr/>
          <p:nvPr/>
        </p:nvSpPr>
        <p:spPr>
          <a:xfrm>
            <a:off x="9550400" y="6108700"/>
            <a:ext cx="518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udaje wiedzy. Zbiera minimum informacji i przekazuje rozmowę do właściwej osoby.</a:t>
            </a:r>
            <a:endParaRPr lang="en-US" sz="1700" dirty="0"/>
          </a:p>
        </p:txBody>
      </p:sp>
      <p:sp>
        <p:nvSpPr>
          <p:cNvPr id="22" name="footer-brand"/>
          <p:cNvSpPr/>
          <p:nvPr/>
        </p:nvSpPr>
        <p:spPr>
          <a:xfrm>
            <a:off x="762000" y="85852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RECEPCJA TELEFONICZNA AI</a:t>
            </a:r>
            <a:endParaRPr lang="en-US" sz="1300" dirty="0"/>
          </a:p>
        </p:txBody>
      </p:sp>
      <p:sp>
        <p:nvSpPr>
          <p:cNvPr id="23" name="footer-number"/>
          <p:cNvSpPr/>
          <p:nvPr/>
        </p:nvSpPr>
        <p:spPr>
          <a:xfrm>
            <a:off x="14859000" y="85852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accent"/>
          <p:cNvSpPr/>
          <p:nvPr/>
        </p:nvSpPr>
        <p:spPr>
          <a:xfrm>
            <a:off x="762000" y="660400"/>
            <a:ext cx="508000" cy="508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lide-title"/>
          <p:cNvSpPr/>
          <p:nvPr/>
        </p:nvSpPr>
        <p:spPr>
          <a:xfrm>
            <a:off x="762000" y="9144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Wdrożenie w 10 dni roboczych</a:t>
            </a:r>
            <a:endParaRPr lang="en-US" sz="3200" dirty="0"/>
          </a:p>
        </p:txBody>
      </p:sp>
      <p:sp>
        <p:nvSpPr>
          <p:cNvPr id="4" name="title-divider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5" name="intro"/>
          <p:cNvSpPr/>
          <p:nvPr/>
        </p:nvSpPr>
        <p:spPr>
          <a:xfrm>
            <a:off x="762000" y="2082800"/>
            <a:ext cx="1130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Krótki projekt operacyjny — bez przeciągania analizy i bez zostawiania zespołu z narzędziem do samodzielnej konfiguracji.</a:t>
            </a:r>
            <a:endParaRPr lang="en-US" sz="2000" dirty="0"/>
          </a:p>
        </p:txBody>
      </p:sp>
      <p:sp>
        <p:nvSpPr>
          <p:cNvPr id="6" name="timeline-line"/>
          <p:cNvSpPr/>
          <p:nvPr/>
        </p:nvSpPr>
        <p:spPr>
          <a:xfrm>
            <a:off x="1778000" y="4483100"/>
            <a:ext cx="11938000" cy="9144"/>
          </a:xfrm>
          <a:prstGeom prst="line">
            <a:avLst/>
          </a:prstGeom>
          <a:ln w="50800">
            <a:solidFill>
              <a:srgbClr val="E2E8F0"/>
            </a:solidFill>
            <a:prstDash val="solid"/>
          </a:ln>
        </p:spPr>
      </p:sp>
      <p:sp>
        <p:nvSpPr>
          <p:cNvPr id="7" name="step-one-dot"/>
          <p:cNvSpPr/>
          <p:nvPr/>
        </p:nvSpPr>
        <p:spPr>
          <a:xfrm>
            <a:off x="1955800" y="4279900"/>
            <a:ext cx="406400" cy="4064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8" name="step-one-card"/>
          <p:cNvSpPr/>
          <p:nvPr/>
        </p:nvSpPr>
        <p:spPr>
          <a:xfrm>
            <a:off x="762000" y="3200400"/>
            <a:ext cx="3175000" cy="3429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tep-one-days"/>
          <p:cNvSpPr/>
          <p:nvPr/>
        </p:nvSpPr>
        <p:spPr>
          <a:xfrm>
            <a:off x="1066800" y="3530600"/>
            <a:ext cx="228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DNI 1–2</a:t>
            </a:r>
            <a:endParaRPr lang="en-US" sz="1600" dirty="0"/>
          </a:p>
        </p:txBody>
      </p:sp>
      <p:sp>
        <p:nvSpPr>
          <p:cNvPr id="10" name="step-one-title"/>
          <p:cNvSpPr/>
          <p:nvPr/>
        </p:nvSpPr>
        <p:spPr>
          <a:xfrm>
            <a:off x="1066800" y="4051300"/>
            <a:ext cx="241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Mapa rozmów</a:t>
            </a:r>
            <a:endParaRPr lang="en-US" sz="2200" dirty="0"/>
          </a:p>
        </p:txBody>
      </p:sp>
      <p:sp>
        <p:nvSpPr>
          <p:cNvPr id="11" name="step-one-copy"/>
          <p:cNvSpPr/>
          <p:nvPr/>
        </p:nvSpPr>
        <p:spPr>
          <a:xfrm>
            <a:off x="1066800" y="5003800"/>
            <a:ext cx="2413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Typy połączeń, pytania, reguły eskalacji, odpowiedzi i granice asystenta.</a:t>
            </a:r>
            <a:endParaRPr lang="en-US" sz="1700" dirty="0"/>
          </a:p>
        </p:txBody>
      </p:sp>
      <p:sp>
        <p:nvSpPr>
          <p:cNvPr id="12" name="step-two-dot"/>
          <p:cNvSpPr/>
          <p:nvPr/>
        </p:nvSpPr>
        <p:spPr>
          <a:xfrm>
            <a:off x="5765800" y="4279900"/>
            <a:ext cx="406400" cy="4064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3" name="step-two-card"/>
          <p:cNvSpPr/>
          <p:nvPr/>
        </p:nvSpPr>
        <p:spPr>
          <a:xfrm>
            <a:off x="4572000" y="3200400"/>
            <a:ext cx="3175000" cy="3429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tep-two-days"/>
          <p:cNvSpPr/>
          <p:nvPr/>
        </p:nvSpPr>
        <p:spPr>
          <a:xfrm>
            <a:off x="4876800" y="3530600"/>
            <a:ext cx="228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DNI 3–6</a:t>
            </a:r>
            <a:endParaRPr lang="en-US" sz="1600" dirty="0"/>
          </a:p>
        </p:txBody>
      </p:sp>
      <p:sp>
        <p:nvSpPr>
          <p:cNvPr id="15" name="step-two-title"/>
          <p:cNvSpPr/>
          <p:nvPr/>
        </p:nvSpPr>
        <p:spPr>
          <a:xfrm>
            <a:off x="4876800" y="4051300"/>
            <a:ext cx="241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Konfiguracja</a:t>
            </a:r>
            <a:endParaRPr lang="en-US" sz="2200" dirty="0"/>
          </a:p>
        </p:txBody>
      </p:sp>
      <p:sp>
        <p:nvSpPr>
          <p:cNvPr id="16" name="step-two-copy"/>
          <p:cNvSpPr/>
          <p:nvPr/>
        </p:nvSpPr>
        <p:spPr>
          <a:xfrm>
            <a:off x="4876800" y="5003800"/>
            <a:ext cx="2413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Asystent, numer lub przekierowanie, powiadomienia oraz kalendarz.</a:t>
            </a:r>
            <a:endParaRPr lang="en-US" sz="1700" dirty="0"/>
          </a:p>
        </p:txBody>
      </p:sp>
      <p:sp>
        <p:nvSpPr>
          <p:cNvPr id="17" name="step-three-dot"/>
          <p:cNvSpPr/>
          <p:nvPr/>
        </p:nvSpPr>
        <p:spPr>
          <a:xfrm>
            <a:off x="9575800" y="4279900"/>
            <a:ext cx="406400" cy="4064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8" name="step-three-card"/>
          <p:cNvSpPr/>
          <p:nvPr/>
        </p:nvSpPr>
        <p:spPr>
          <a:xfrm>
            <a:off x="8382000" y="3200400"/>
            <a:ext cx="3175000" cy="3429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tep-three-days"/>
          <p:cNvSpPr/>
          <p:nvPr/>
        </p:nvSpPr>
        <p:spPr>
          <a:xfrm>
            <a:off x="8686800" y="3530600"/>
            <a:ext cx="228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DNI 7–8</a:t>
            </a:r>
            <a:endParaRPr lang="en-US" sz="1600" dirty="0"/>
          </a:p>
        </p:txBody>
      </p:sp>
      <p:sp>
        <p:nvSpPr>
          <p:cNvPr id="20" name="step-three-title"/>
          <p:cNvSpPr/>
          <p:nvPr/>
        </p:nvSpPr>
        <p:spPr>
          <a:xfrm>
            <a:off x="8686800" y="4051300"/>
            <a:ext cx="241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Testy</a:t>
            </a:r>
            <a:endParaRPr lang="en-US" sz="2200" dirty="0"/>
          </a:p>
        </p:txBody>
      </p:sp>
      <p:sp>
        <p:nvSpPr>
          <p:cNvPr id="21" name="step-three-copy"/>
          <p:cNvSpPr/>
          <p:nvPr/>
        </p:nvSpPr>
        <p:spPr>
          <a:xfrm>
            <a:off x="8686800" y="5003800"/>
            <a:ext cx="2413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Przechodzimy kluczowe scenariusze i akceptujemy ich działanie przed startem.</a:t>
            </a:r>
            <a:endParaRPr lang="en-US" sz="1700" dirty="0"/>
          </a:p>
        </p:txBody>
      </p:sp>
      <p:sp>
        <p:nvSpPr>
          <p:cNvPr id="22" name="step-four-dot"/>
          <p:cNvSpPr/>
          <p:nvPr/>
        </p:nvSpPr>
        <p:spPr>
          <a:xfrm>
            <a:off x="13385800" y="4279900"/>
            <a:ext cx="406400" cy="40640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3" name="step-four-card"/>
          <p:cNvSpPr/>
          <p:nvPr/>
        </p:nvSpPr>
        <p:spPr>
          <a:xfrm>
            <a:off x="12192000" y="3200400"/>
            <a:ext cx="3302000" cy="3429000"/>
          </a:xfrm>
          <a:prstGeom prst="roundRect">
            <a:avLst>
              <a:gd name="adj" fmla="val 3077"/>
            </a:avLst>
          </a:prstGeom>
          <a:solidFill>
            <a:srgbClr val="EAF5FC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4" name="step-four-days"/>
          <p:cNvSpPr/>
          <p:nvPr/>
        </p:nvSpPr>
        <p:spPr>
          <a:xfrm>
            <a:off x="12496800" y="3530600"/>
            <a:ext cx="228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DNI 9–10</a:t>
            </a:r>
            <a:endParaRPr lang="en-US" sz="1600" dirty="0"/>
          </a:p>
        </p:txBody>
      </p:sp>
      <p:sp>
        <p:nvSpPr>
          <p:cNvPr id="25" name="step-four-title"/>
          <p:cNvSpPr/>
          <p:nvPr/>
        </p:nvSpPr>
        <p:spPr>
          <a:xfrm>
            <a:off x="12496800" y="4051300"/>
            <a:ext cx="241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6"/>
              </a:lnSpc>
              <a:buNone/>
            </a:pPr>
            <a:r>
              <a:rPr lang="en-US" altLang="en-US" sz="2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i monitoring</a:t>
            </a:r>
            <a:endParaRPr lang="en-US" sz="2200" dirty="0"/>
          </a:p>
        </p:txBody>
      </p:sp>
      <p:sp>
        <p:nvSpPr>
          <p:cNvPr id="26" name="step-four-copy"/>
          <p:cNvSpPr/>
          <p:nvPr/>
        </p:nvSpPr>
        <p:spPr>
          <a:xfrm>
            <a:off x="12496800" y="5003800"/>
            <a:ext cx="2540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alt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Uruchamiamy i zaczynamy osobisty przegląd realnych rozmów.</a:t>
            </a:r>
            <a:endParaRPr lang="en-US" sz="1700" dirty="0"/>
          </a:p>
        </p:txBody>
      </p:sp>
      <p:sp>
        <p:nvSpPr>
          <p:cNvPr id="27" name="timeline-note"/>
          <p:cNvSpPr/>
          <p:nvPr/>
        </p:nvSpPr>
        <p:spPr>
          <a:xfrm>
            <a:off x="762000" y="71882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 jest możliwy, gdy po stronie klienta są kompletne materiały, dostępy i jedna osoba decyzyjna.</a:t>
            </a:r>
            <a:endParaRPr lang="en-US" sz="1600" dirty="0"/>
          </a:p>
        </p:txBody>
      </p:sp>
      <p:sp>
        <p:nvSpPr>
          <p:cNvPr id="28" name="footer-brand"/>
          <p:cNvSpPr/>
          <p:nvPr/>
        </p:nvSpPr>
        <p:spPr>
          <a:xfrm>
            <a:off x="762000" y="85852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RECEPCJA TELEFONICZNA AI</a:t>
            </a:r>
            <a:endParaRPr lang="en-US" sz="1300" dirty="0"/>
          </a:p>
        </p:txBody>
      </p:sp>
      <p:sp>
        <p:nvSpPr>
          <p:cNvPr id="29" name="footer-number"/>
          <p:cNvSpPr/>
          <p:nvPr/>
        </p:nvSpPr>
        <p:spPr>
          <a:xfrm>
            <a:off x="14859000" y="85852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accent"/>
          <p:cNvSpPr/>
          <p:nvPr/>
        </p:nvSpPr>
        <p:spPr>
          <a:xfrm>
            <a:off x="762000" y="660400"/>
            <a:ext cx="508000" cy="508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lide-title"/>
          <p:cNvSpPr/>
          <p:nvPr/>
        </p:nvSpPr>
        <p:spPr>
          <a:xfrm>
            <a:off x="762000" y="914400"/>
            <a:ext cx="10795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 obejmuje obsługiwana usługa</a:t>
            </a:r>
            <a:endParaRPr lang="en-US" sz="3200" dirty="0"/>
          </a:p>
        </p:txBody>
      </p:sp>
      <p:sp>
        <p:nvSpPr>
          <p:cNvPr id="4" name="title-divider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5" name="intro"/>
          <p:cNvSpPr/>
          <p:nvPr/>
        </p:nvSpPr>
        <p:spPr>
          <a:xfrm>
            <a:off x="762000" y="20701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Narzędzie bez wdrożenia zostawia klienta z panelem. Ta usługa dostarcza gotowy proces i jego realne dopracowanie.</a:t>
            </a:r>
            <a:endParaRPr lang="en-US" sz="2000" dirty="0"/>
          </a:p>
        </p:txBody>
      </p:sp>
      <p:sp>
        <p:nvSpPr>
          <p:cNvPr id="6" name="before-card"/>
          <p:cNvSpPr/>
          <p:nvPr/>
        </p:nvSpPr>
        <p:spPr>
          <a:xfrm>
            <a:off x="762000" y="2870200"/>
            <a:ext cx="7112000" cy="4368800"/>
          </a:xfrm>
          <a:prstGeom prst="roundRect">
            <a:avLst>
              <a:gd name="adj" fmla="val 23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before-title"/>
          <p:cNvSpPr/>
          <p:nvPr/>
        </p:nvSpPr>
        <p:spPr>
          <a:xfrm>
            <a:off x="1117600" y="3225800"/>
            <a:ext cx="4445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PRZED URUCHOMIENIEM</a:t>
            </a:r>
            <a:endParaRPr lang="en-US" sz="2100" dirty="0"/>
          </a:p>
        </p:txBody>
      </p:sp>
      <p:pic>
        <p:nvPicPr>
          <p:cNvPr id="8" name="scope-map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4000500"/>
            <a:ext cx="406400" cy="406400"/>
          </a:xfrm>
          <a:prstGeom prst="rect">
            <a:avLst/>
          </a:prstGeom>
        </p:spPr>
      </p:pic>
      <p:sp>
        <p:nvSpPr>
          <p:cNvPr id="9" name="scope-map-copy"/>
          <p:cNvSpPr/>
          <p:nvPr/>
        </p:nvSpPr>
        <p:spPr>
          <a:xfrm>
            <a:off x="1854200" y="3886200"/>
            <a:ext cx="50165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altLang="en-US" sz="1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Mapa rozmów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alt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Scenariusze, pytania, eskalacje i granice odpowiedzi.</a:t>
            </a:r>
            <a:endParaRPr lang="en-US" sz="1800" dirty="0"/>
          </a:p>
        </p:txBody>
      </p:sp>
      <p:sp>
        <p:nvSpPr>
          <p:cNvPr id="10" name="before-line-one"/>
          <p:cNvSpPr/>
          <p:nvPr/>
        </p:nvSpPr>
        <p:spPr>
          <a:xfrm>
            <a:off x="1143000" y="4940300"/>
            <a:ext cx="55880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pic>
        <p:nvPicPr>
          <p:cNvPr id="11" name="scope-config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257800"/>
            <a:ext cx="406400" cy="406400"/>
          </a:xfrm>
          <a:prstGeom prst="rect">
            <a:avLst/>
          </a:prstGeom>
        </p:spPr>
      </p:pic>
      <p:sp>
        <p:nvSpPr>
          <p:cNvPr id="12" name="scope-config-copy"/>
          <p:cNvSpPr/>
          <p:nvPr/>
        </p:nvSpPr>
        <p:spPr>
          <a:xfrm>
            <a:off x="1854200" y="5143500"/>
            <a:ext cx="50165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altLang="en-US" sz="1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Konfiguracja i integracja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alt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Numer, przekierowanie, powiadomienia i kalendarz.</a:t>
            </a:r>
            <a:endParaRPr lang="en-US" sz="1800" dirty="0"/>
          </a:p>
        </p:txBody>
      </p:sp>
      <p:sp>
        <p:nvSpPr>
          <p:cNvPr id="13" name="before-line-two"/>
          <p:cNvSpPr/>
          <p:nvPr/>
        </p:nvSpPr>
        <p:spPr>
          <a:xfrm>
            <a:off x="1143000" y="6210300"/>
            <a:ext cx="55880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pic>
        <p:nvPicPr>
          <p:cNvPr id="14" name="scope-test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527800"/>
            <a:ext cx="406400" cy="406400"/>
          </a:xfrm>
          <a:prstGeom prst="rect">
            <a:avLst/>
          </a:prstGeom>
        </p:spPr>
      </p:pic>
      <p:sp>
        <p:nvSpPr>
          <p:cNvPr id="15" name="scope-test-copy"/>
          <p:cNvSpPr/>
          <p:nvPr/>
        </p:nvSpPr>
        <p:spPr>
          <a:xfrm>
            <a:off x="1854200" y="6413500"/>
            <a:ext cx="50165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altLang="en-US" sz="1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Testy scenariuszy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alt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Akceptacja ważnych ścieżek przed rozmowami z klientami.</a:t>
            </a:r>
            <a:endParaRPr lang="en-US" sz="1800" dirty="0"/>
          </a:p>
        </p:txBody>
      </p:sp>
      <p:sp>
        <p:nvSpPr>
          <p:cNvPr id="16" name="after-card"/>
          <p:cNvSpPr/>
          <p:nvPr/>
        </p:nvSpPr>
        <p:spPr>
          <a:xfrm>
            <a:off x="8382000" y="2870200"/>
            <a:ext cx="7112000" cy="4368800"/>
          </a:xfrm>
          <a:prstGeom prst="roundRect">
            <a:avLst>
              <a:gd name="adj" fmla="val 2326"/>
            </a:avLst>
          </a:prstGeom>
          <a:solidFill>
            <a:srgbClr val="EAF5FC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after-title"/>
          <p:cNvSpPr/>
          <p:nvPr/>
        </p:nvSpPr>
        <p:spPr>
          <a:xfrm>
            <a:off x="8737600" y="3225800"/>
            <a:ext cx="4445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 URUCHOMIENIU</a:t>
            </a:r>
            <a:endParaRPr lang="en-US" sz="2100" dirty="0"/>
          </a:p>
        </p:txBody>
      </p:sp>
      <p:pic>
        <p:nvPicPr>
          <p:cNvPr id="18" name="scope-monitor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0" y="4000500"/>
            <a:ext cx="406400" cy="406400"/>
          </a:xfrm>
          <a:prstGeom prst="rect">
            <a:avLst/>
          </a:prstGeom>
        </p:spPr>
      </p:pic>
      <p:sp>
        <p:nvSpPr>
          <p:cNvPr id="19" name="scope-monitor-copy"/>
          <p:cNvSpPr/>
          <p:nvPr/>
        </p:nvSpPr>
        <p:spPr>
          <a:xfrm>
            <a:off x="9474200" y="3784600"/>
            <a:ext cx="5016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5"/>
              </a:lnSpc>
              <a:buNone/>
            </a:pPr>
            <a:r>
              <a:rPr lang="en-US" altLang="en-US" sz="17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Aktywna optymalizacja</a:t>
            </a:r>
            <a:endParaRPr lang="en-US" sz="1700" dirty="0"/>
          </a:p>
          <a:p>
            <a:pPr algn="l" indent="0" marL="0">
              <a:lnSpc>
                <a:spcPts val="2125"/>
              </a:lnSpc>
              <a:buNone/>
            </a:pPr>
            <a:r>
              <a:rPr lang="en-US" alt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Przez pierwsze 30 dni raz w tygodniu analizujemy rozmowy i nanosimy potrzebne korekty w uzgodnionym procesie.</a:t>
            </a:r>
            <a:endParaRPr lang="en-US" sz="1700" dirty="0"/>
          </a:p>
        </p:txBody>
      </p:sp>
      <p:sp>
        <p:nvSpPr>
          <p:cNvPr id="20" name="after-line-one"/>
          <p:cNvSpPr/>
          <p:nvPr/>
        </p:nvSpPr>
        <p:spPr>
          <a:xfrm>
            <a:off x="8763000" y="4940300"/>
            <a:ext cx="5588000" cy="9144"/>
          </a:xfrm>
          <a:prstGeom prst="line">
            <a:avLst/>
          </a:prstGeom>
          <a:ln w="12700">
            <a:solidFill>
              <a:srgbClr val="B7D9EF"/>
            </a:solidFill>
            <a:prstDash val="solid"/>
          </a:ln>
        </p:spPr>
      </p:sp>
      <p:pic>
        <p:nvPicPr>
          <p:cNvPr id="21" name="scope-tune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5257800"/>
            <a:ext cx="406400" cy="406400"/>
          </a:xfrm>
          <a:prstGeom prst="rect">
            <a:avLst/>
          </a:prstGeom>
        </p:spPr>
      </p:pic>
      <p:sp>
        <p:nvSpPr>
          <p:cNvPr id="22" name="scope-tune-copy"/>
          <p:cNvSpPr/>
          <p:nvPr/>
        </p:nvSpPr>
        <p:spPr>
          <a:xfrm>
            <a:off x="9474200" y="5143500"/>
            <a:ext cx="50165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5"/>
              </a:lnSpc>
              <a:buNone/>
            </a:pPr>
            <a:r>
              <a:rPr lang="en-US" altLang="en-US" sz="17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Miesięczny przegląd</a:t>
            </a:r>
            <a:endParaRPr lang="en-US" sz="1700" dirty="0"/>
          </a:p>
          <a:p>
            <a:pPr algn="l" indent="0" marL="0">
              <a:lnSpc>
                <a:spcPts val="2125"/>
              </a:lnSpc>
              <a:buNone/>
            </a:pPr>
            <a:r>
              <a:rPr lang="en-US" alt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 30 dniach: przegląd rozmów i jedna skonsolidowana runda zmian w istniejącym procesie.</a:t>
            </a:r>
            <a:endParaRPr lang="en-US" sz="1700" dirty="0"/>
          </a:p>
        </p:txBody>
      </p:sp>
      <p:sp>
        <p:nvSpPr>
          <p:cNvPr id="23" name="after-line-two"/>
          <p:cNvSpPr/>
          <p:nvPr/>
        </p:nvSpPr>
        <p:spPr>
          <a:xfrm>
            <a:off x="8763000" y="6210300"/>
            <a:ext cx="5588000" cy="9144"/>
          </a:xfrm>
          <a:prstGeom prst="line">
            <a:avLst/>
          </a:prstGeom>
          <a:ln w="12700">
            <a:solidFill>
              <a:srgbClr val="B7D9EF"/>
            </a:solidFill>
            <a:prstDash val="solid"/>
          </a:ln>
        </p:spPr>
      </p:sp>
      <p:pic>
        <p:nvPicPr>
          <p:cNvPr id="24" name="scope-report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0" y="6527800"/>
            <a:ext cx="406400" cy="406400"/>
          </a:xfrm>
          <a:prstGeom prst="rect">
            <a:avLst/>
          </a:prstGeom>
        </p:spPr>
      </p:pic>
      <p:sp>
        <p:nvSpPr>
          <p:cNvPr id="25" name="scope-report-copy"/>
          <p:cNvSpPr/>
          <p:nvPr/>
        </p:nvSpPr>
        <p:spPr>
          <a:xfrm>
            <a:off x="9474200" y="6413500"/>
            <a:ext cx="50165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altLang="en-US" sz="18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Raport i widoczność</a:t>
            </a:r>
            <a:endParaRPr lang="en-US" sz="18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alt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Powody połączeń, przekazania, rezerwacje i obszary do usprawnienia.</a:t>
            </a:r>
            <a:endParaRPr lang="en-US" sz="1800" dirty="0"/>
          </a:p>
        </p:txBody>
      </p:sp>
      <p:sp>
        <p:nvSpPr>
          <p:cNvPr id="26" name="scope-boundary"/>
          <p:cNvSpPr/>
          <p:nvPr/>
        </p:nvSpPr>
        <p:spPr>
          <a:xfrm>
            <a:off x="762000" y="7874000"/>
            <a:ext cx="1422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Nowy proces, integracja, numer, lokalizacja, język lub istotna przebudowa są odrębnie uzgadniane i wyceniane.</a:t>
            </a:r>
            <a:endParaRPr lang="en-US" sz="1400" dirty="0"/>
          </a:p>
        </p:txBody>
      </p:sp>
      <p:sp>
        <p:nvSpPr>
          <p:cNvPr id="27" name="footer-brand"/>
          <p:cNvSpPr/>
          <p:nvPr/>
        </p:nvSpPr>
        <p:spPr>
          <a:xfrm>
            <a:off x="762000" y="85852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RECEPCJA TELEFONICZNA AI</a:t>
            </a:r>
            <a:endParaRPr lang="en-US" sz="1300" dirty="0"/>
          </a:p>
        </p:txBody>
      </p:sp>
      <p:sp>
        <p:nvSpPr>
          <p:cNvPr id="28" name="footer-number"/>
          <p:cNvSpPr/>
          <p:nvPr/>
        </p:nvSpPr>
        <p:spPr>
          <a:xfrm>
            <a:off x="14859000" y="85852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accent"/>
          <p:cNvSpPr/>
          <p:nvPr/>
        </p:nvSpPr>
        <p:spPr>
          <a:xfrm>
            <a:off x="762000" y="660400"/>
            <a:ext cx="508000" cy="508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lide-title"/>
          <p:cNvSpPr/>
          <p:nvPr/>
        </p:nvSpPr>
        <p:spPr>
          <a:xfrm>
            <a:off x="762000" y="9144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Trzy poziomy skali — bez ukrytych limitów</a:t>
            </a:r>
            <a:endParaRPr lang="en-US" sz="3200" dirty="0"/>
          </a:p>
        </p:txBody>
      </p:sp>
      <p:sp>
        <p:nvSpPr>
          <p:cNvPr id="4" name="title-divider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5" name="intro"/>
          <p:cNvSpPr/>
          <p:nvPr/>
        </p:nvSpPr>
        <p:spPr>
          <a:xfrm>
            <a:off x="762000" y="2070100"/>
            <a:ext cx="1270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Każdy pakiet zawiera jasno określony zakres i limit minut, dzięki czemu koszt rośnie wraz z realnym wykorzystaniem.</a:t>
            </a:r>
            <a:endParaRPr lang="en-US" sz="1900" dirty="0"/>
          </a:p>
        </p:txBody>
      </p:sp>
      <p:sp>
        <p:nvSpPr>
          <p:cNvPr id="6" name="start-card"/>
          <p:cNvSpPr/>
          <p:nvPr/>
        </p:nvSpPr>
        <p:spPr>
          <a:xfrm>
            <a:off x="762000" y="2844800"/>
            <a:ext cx="4318000" cy="457200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tart-label"/>
          <p:cNvSpPr/>
          <p:nvPr/>
        </p:nvSpPr>
        <p:spPr>
          <a:xfrm>
            <a:off x="1092200" y="3175000"/>
            <a:ext cx="2794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ENTRY-LEVEL</a:t>
            </a:r>
            <a:endParaRPr lang="en-US" sz="1400" dirty="0"/>
          </a:p>
        </p:txBody>
      </p:sp>
      <p:sp>
        <p:nvSpPr>
          <p:cNvPr id="8" name="start-name"/>
          <p:cNvSpPr/>
          <p:nvPr/>
        </p:nvSpPr>
        <p:spPr>
          <a:xfrm>
            <a:off x="1092200" y="3594100"/>
            <a:ext cx="292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2500" dirty="0"/>
          </a:p>
        </p:txBody>
      </p:sp>
      <p:sp>
        <p:nvSpPr>
          <p:cNvPr id="9" name="start-rule"/>
          <p:cNvSpPr/>
          <p:nvPr/>
        </p:nvSpPr>
        <p:spPr>
          <a:xfrm>
            <a:off x="1092200" y="4267200"/>
            <a:ext cx="31750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10" name="start-setup"/>
          <p:cNvSpPr/>
          <p:nvPr/>
        </p:nvSpPr>
        <p:spPr>
          <a:xfrm>
            <a:off x="1092200" y="4508500"/>
            <a:ext cx="292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Wdrożenie</a:t>
            </a:r>
            <a:endParaRPr lang="en-US" sz="1700" dirty="0"/>
          </a:p>
        </p:txBody>
      </p:sp>
      <p:sp>
        <p:nvSpPr>
          <p:cNvPr id="11" name="start-setup-price"/>
          <p:cNvSpPr/>
          <p:nvPr/>
        </p:nvSpPr>
        <p:spPr>
          <a:xfrm>
            <a:off x="1092200" y="4851400"/>
            <a:ext cx="292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2 490 zł</a:t>
            </a:r>
            <a:endParaRPr lang="en-US" sz="2400" dirty="0"/>
          </a:p>
        </p:txBody>
      </p:sp>
      <p:sp>
        <p:nvSpPr>
          <p:cNvPr id="12" name="start-monthly"/>
          <p:cNvSpPr/>
          <p:nvPr/>
        </p:nvSpPr>
        <p:spPr>
          <a:xfrm>
            <a:off x="1092200" y="5461000"/>
            <a:ext cx="292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Abonament</a:t>
            </a:r>
            <a:endParaRPr lang="en-US" sz="1700" dirty="0"/>
          </a:p>
        </p:txBody>
      </p:sp>
      <p:sp>
        <p:nvSpPr>
          <p:cNvPr id="13" name="start-monthly-price"/>
          <p:cNvSpPr/>
          <p:nvPr/>
        </p:nvSpPr>
        <p:spPr>
          <a:xfrm>
            <a:off x="1092200" y="5803900"/>
            <a:ext cx="292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1 490 zł/mies.</a:t>
            </a:r>
            <a:endParaRPr lang="en-US" sz="2400" dirty="0"/>
          </a:p>
        </p:txBody>
      </p:sp>
      <p:sp>
        <p:nvSpPr>
          <p:cNvPr id="14" name="start-scope"/>
          <p:cNvSpPr/>
          <p:nvPr/>
        </p:nvSpPr>
        <p:spPr>
          <a:xfrm>
            <a:off x="1092200" y="6502400"/>
            <a:ext cx="31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300 min • jedna ścieżka • kwalifikacja • prosta rezerwacja</a:t>
            </a:r>
            <a:endParaRPr lang="en-US" sz="1600" dirty="0"/>
          </a:p>
        </p:txBody>
      </p:sp>
      <p:sp>
        <p:nvSpPr>
          <p:cNvPr id="15" name="core-card"/>
          <p:cNvSpPr/>
          <p:nvPr/>
        </p:nvSpPr>
        <p:spPr>
          <a:xfrm>
            <a:off x="5588000" y="2667000"/>
            <a:ext cx="5080000" cy="4927600"/>
          </a:xfrm>
          <a:prstGeom prst="roundRect">
            <a:avLst>
              <a:gd name="adj" fmla="val 2062"/>
            </a:avLst>
          </a:prstGeom>
          <a:solidFill>
            <a:srgbClr val="EAF5FC"/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16" name="core-badge"/>
          <p:cNvSpPr/>
          <p:nvPr/>
        </p:nvSpPr>
        <p:spPr>
          <a:xfrm>
            <a:off x="5918200" y="2921000"/>
            <a:ext cx="1955800" cy="3556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</p:sp>
      <p:sp>
        <p:nvSpPr>
          <p:cNvPr id="17" name="core-badge-text"/>
          <p:cNvSpPr/>
          <p:nvPr/>
        </p:nvSpPr>
        <p:spPr>
          <a:xfrm>
            <a:off x="5918200" y="2984500"/>
            <a:ext cx="1955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REKOMENDOWANY</a:t>
            </a:r>
            <a:endParaRPr lang="en-US" sz="1300" dirty="0"/>
          </a:p>
        </p:txBody>
      </p:sp>
      <p:sp>
        <p:nvSpPr>
          <p:cNvPr id="18" name="core-name"/>
          <p:cNvSpPr/>
          <p:nvPr/>
        </p:nvSpPr>
        <p:spPr>
          <a:xfrm>
            <a:off x="5918200" y="3606800"/>
            <a:ext cx="393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OBSŁUGA 24/7</a:t>
            </a:r>
            <a:endParaRPr lang="en-US" sz="2500" dirty="0"/>
          </a:p>
        </p:txBody>
      </p:sp>
      <p:sp>
        <p:nvSpPr>
          <p:cNvPr id="19" name="core-rule"/>
          <p:cNvSpPr/>
          <p:nvPr/>
        </p:nvSpPr>
        <p:spPr>
          <a:xfrm>
            <a:off x="5918200" y="4267200"/>
            <a:ext cx="3937000" cy="9144"/>
          </a:xfrm>
          <a:prstGeom prst="line">
            <a:avLst/>
          </a:prstGeom>
          <a:ln w="12700">
            <a:solidFill>
              <a:srgbClr val="B7D9EF"/>
            </a:solidFill>
            <a:prstDash val="solid"/>
          </a:ln>
        </p:spPr>
      </p:sp>
      <p:sp>
        <p:nvSpPr>
          <p:cNvPr id="20" name="core-setup"/>
          <p:cNvSpPr/>
          <p:nvPr/>
        </p:nvSpPr>
        <p:spPr>
          <a:xfrm>
            <a:off x="5918200" y="4508500"/>
            <a:ext cx="355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Wdrożenie</a:t>
            </a:r>
            <a:endParaRPr lang="en-US" sz="1700" dirty="0"/>
          </a:p>
        </p:txBody>
      </p:sp>
      <p:sp>
        <p:nvSpPr>
          <p:cNvPr id="21" name="core-setup-price"/>
          <p:cNvSpPr/>
          <p:nvPr/>
        </p:nvSpPr>
        <p:spPr>
          <a:xfrm>
            <a:off x="5918200" y="4851400"/>
            <a:ext cx="355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4 990 zł</a:t>
            </a:r>
            <a:endParaRPr lang="en-US" sz="2400" dirty="0"/>
          </a:p>
        </p:txBody>
      </p:sp>
      <p:sp>
        <p:nvSpPr>
          <p:cNvPr id="22" name="core-monthly"/>
          <p:cNvSpPr/>
          <p:nvPr/>
        </p:nvSpPr>
        <p:spPr>
          <a:xfrm>
            <a:off x="5918200" y="5461000"/>
            <a:ext cx="355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Abonament</a:t>
            </a:r>
            <a:endParaRPr lang="en-US" sz="1700" dirty="0"/>
          </a:p>
        </p:txBody>
      </p:sp>
      <p:sp>
        <p:nvSpPr>
          <p:cNvPr id="23" name="core-monthly-price"/>
          <p:cNvSpPr/>
          <p:nvPr/>
        </p:nvSpPr>
        <p:spPr>
          <a:xfrm>
            <a:off x="5918200" y="5803900"/>
            <a:ext cx="381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2 990 zł/mies.</a:t>
            </a:r>
            <a:endParaRPr lang="en-US" sz="2400" dirty="0"/>
          </a:p>
        </p:txBody>
      </p:sp>
      <p:sp>
        <p:nvSpPr>
          <p:cNvPr id="24" name="core-scope"/>
          <p:cNvSpPr/>
          <p:nvPr/>
        </p:nvSpPr>
        <p:spPr>
          <a:xfrm>
            <a:off x="5918200" y="6502400"/>
            <a:ext cx="40005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1 000 min • do 3 ścieżek • rezerwacje • pilna eskalacja • optymalizacja</a:t>
            </a:r>
            <a:endParaRPr lang="en-US" sz="1600" dirty="0"/>
          </a:p>
        </p:txBody>
      </p:sp>
      <p:sp>
        <p:nvSpPr>
          <p:cNvPr id="25" name="premium-card"/>
          <p:cNvSpPr/>
          <p:nvPr/>
        </p:nvSpPr>
        <p:spPr>
          <a:xfrm>
            <a:off x="11176000" y="2844800"/>
            <a:ext cx="4318000" cy="457200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premium-label"/>
          <p:cNvSpPr/>
          <p:nvPr/>
        </p:nvSpPr>
        <p:spPr>
          <a:xfrm>
            <a:off x="11506200" y="3175000"/>
            <a:ext cx="27940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1400" dirty="0"/>
          </a:p>
        </p:txBody>
      </p:sp>
      <p:sp>
        <p:nvSpPr>
          <p:cNvPr id="27" name="premium-name"/>
          <p:cNvSpPr/>
          <p:nvPr/>
        </p:nvSpPr>
        <p:spPr>
          <a:xfrm>
            <a:off x="11506200" y="3594100"/>
            <a:ext cx="330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CENTRUM OBSŁUGI AI</a:t>
            </a:r>
            <a:endParaRPr lang="en-US" sz="2500" dirty="0"/>
          </a:p>
        </p:txBody>
      </p:sp>
      <p:sp>
        <p:nvSpPr>
          <p:cNvPr id="28" name="premium-rule"/>
          <p:cNvSpPr/>
          <p:nvPr/>
        </p:nvSpPr>
        <p:spPr>
          <a:xfrm>
            <a:off x="11506200" y="4267200"/>
            <a:ext cx="31750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29" name="premium-setup"/>
          <p:cNvSpPr/>
          <p:nvPr/>
        </p:nvSpPr>
        <p:spPr>
          <a:xfrm>
            <a:off x="11506200" y="4508500"/>
            <a:ext cx="292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Wdrożenie</a:t>
            </a:r>
            <a:endParaRPr lang="en-US" sz="1700" dirty="0"/>
          </a:p>
        </p:txBody>
      </p:sp>
      <p:sp>
        <p:nvSpPr>
          <p:cNvPr id="30" name="premium-setup-price"/>
          <p:cNvSpPr/>
          <p:nvPr/>
        </p:nvSpPr>
        <p:spPr>
          <a:xfrm>
            <a:off x="11506200" y="4851400"/>
            <a:ext cx="2921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9 990 zł</a:t>
            </a:r>
            <a:endParaRPr lang="en-US" sz="2400" dirty="0"/>
          </a:p>
        </p:txBody>
      </p:sp>
      <p:sp>
        <p:nvSpPr>
          <p:cNvPr id="31" name="premium-monthly"/>
          <p:cNvSpPr/>
          <p:nvPr/>
        </p:nvSpPr>
        <p:spPr>
          <a:xfrm>
            <a:off x="11506200" y="5461000"/>
            <a:ext cx="292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Abonament</a:t>
            </a:r>
            <a:endParaRPr lang="en-US" sz="1700" dirty="0"/>
          </a:p>
        </p:txBody>
      </p:sp>
      <p:sp>
        <p:nvSpPr>
          <p:cNvPr id="32" name="premium-monthly-price"/>
          <p:cNvSpPr/>
          <p:nvPr/>
        </p:nvSpPr>
        <p:spPr>
          <a:xfrm>
            <a:off x="11506200" y="5803900"/>
            <a:ext cx="317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5 990 zł/mies.</a:t>
            </a:r>
            <a:endParaRPr lang="en-US" sz="2400" dirty="0"/>
          </a:p>
        </p:txBody>
      </p:sp>
      <p:sp>
        <p:nvSpPr>
          <p:cNvPr id="33" name="premium-scope"/>
          <p:cNvSpPr/>
          <p:nvPr/>
        </p:nvSpPr>
        <p:spPr>
          <a:xfrm>
            <a:off x="11506200" y="6502400"/>
            <a:ext cx="31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altLang="en-US" sz="16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2 500 min • wiele procesów • CRM lub system zgłoszeń</a:t>
            </a:r>
            <a:endParaRPr lang="en-US" sz="1600" dirty="0"/>
          </a:p>
        </p:txBody>
      </p:sp>
      <p:sp>
        <p:nvSpPr>
          <p:cNvPr id="34" name="pricing-note"/>
          <p:cNvSpPr/>
          <p:nvPr/>
        </p:nvSpPr>
        <p:spPr>
          <a:xfrm>
            <a:off x="762000" y="7823200"/>
            <a:ext cx="1397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Ceny netto. Nadwyżka ponad limit: 0,90 zł netto/min. Nietypowe integracje są wyceniane przed rozpoczęciem pracy.</a:t>
            </a:r>
            <a:endParaRPr lang="en-US" sz="1400" dirty="0"/>
          </a:p>
        </p:txBody>
      </p:sp>
      <p:sp>
        <p:nvSpPr>
          <p:cNvPr id="35" name="footer-brand"/>
          <p:cNvSpPr/>
          <p:nvPr/>
        </p:nvSpPr>
        <p:spPr>
          <a:xfrm>
            <a:off x="762000" y="85852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RECEPCJA TELEFONICZNA AI</a:t>
            </a:r>
            <a:endParaRPr lang="en-US" sz="1300" dirty="0"/>
          </a:p>
        </p:txBody>
      </p:sp>
      <p:sp>
        <p:nvSpPr>
          <p:cNvPr id="36" name="footer-number"/>
          <p:cNvSpPr/>
          <p:nvPr/>
        </p:nvSpPr>
        <p:spPr>
          <a:xfrm>
            <a:off x="14859000" y="85852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accent"/>
          <p:cNvSpPr/>
          <p:nvPr/>
        </p:nvSpPr>
        <p:spPr>
          <a:xfrm>
            <a:off x="762000" y="660400"/>
            <a:ext cx="508000" cy="508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lide-title"/>
          <p:cNvSpPr/>
          <p:nvPr/>
        </p:nvSpPr>
        <p:spPr>
          <a:xfrm>
            <a:off x="762000" y="914400"/>
            <a:ext cx="1371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Uruchomienie bez ryzyka długiego zobowiązania</a:t>
            </a:r>
            <a:endParaRPr lang="en-US" sz="3200" dirty="0"/>
          </a:p>
        </p:txBody>
      </p:sp>
      <p:sp>
        <p:nvSpPr>
          <p:cNvPr id="4" name="title-divider"/>
          <p:cNvSpPr/>
          <p:nvPr/>
        </p:nvSpPr>
        <p:spPr>
          <a:xfrm>
            <a:off x="762000" y="1676400"/>
            <a:ext cx="14732000" cy="9144"/>
          </a:xfrm>
          <a:prstGeom prst="line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5" name="intro"/>
          <p:cNvSpPr/>
          <p:nvPr/>
        </p:nvSpPr>
        <p:spPr>
          <a:xfrm>
            <a:off x="762000" y="2070100"/>
            <a:ext cx="132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Dostarczamy działający proces, a klient zachowuje pełną swobodę zakończenia współpracy, jeśli system nie spełni oczekiwań.</a:t>
            </a:r>
            <a:endParaRPr lang="en-US" sz="2000" dirty="0"/>
          </a:p>
        </p:txBody>
      </p:sp>
      <p:sp>
        <p:nvSpPr>
          <p:cNvPr id="6" name="launch-card"/>
          <p:cNvSpPr/>
          <p:nvPr/>
        </p:nvSpPr>
        <p:spPr>
          <a:xfrm>
            <a:off x="762000" y="3098800"/>
            <a:ext cx="7112000" cy="3505200"/>
          </a:xfrm>
          <a:prstGeom prst="roundRect">
            <a:avLst>
              <a:gd name="adj" fmla="val 289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launch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0" y="3581400"/>
            <a:ext cx="609600" cy="609600"/>
          </a:xfrm>
          <a:prstGeom prst="rect">
            <a:avLst/>
          </a:prstGeom>
        </p:spPr>
      </p:pic>
      <p:sp>
        <p:nvSpPr>
          <p:cNvPr id="8" name="launch-title"/>
          <p:cNvSpPr/>
          <p:nvPr/>
        </p:nvSpPr>
        <p:spPr>
          <a:xfrm>
            <a:off x="1193800" y="4572000"/>
            <a:ext cx="533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Uruchomienie w 10 dni roboczych</a:t>
            </a:r>
            <a:endParaRPr lang="en-US" sz="2600" dirty="0"/>
          </a:p>
        </p:txBody>
      </p:sp>
      <p:sp>
        <p:nvSpPr>
          <p:cNvPr id="9" name="launch-copy"/>
          <p:cNvSpPr/>
          <p:nvPr/>
        </p:nvSpPr>
        <p:spPr>
          <a:xfrm>
            <a:off x="1193800" y="5346700"/>
            <a:ext cx="5562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8"/>
              </a:lnSpc>
              <a:buNone/>
            </a:pPr>
            <a:r>
              <a:rPr lang="en-US" altLang="en-US" sz="1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Jeżeli nie uruchomimy uzgodnionego systemu w tym terminie — po otrzymaniu kompletu materiałów i dostępów — zwracamy opłatę wdrożeniową.</a:t>
            </a:r>
            <a:endParaRPr lang="en-US" sz="1900" dirty="0"/>
          </a:p>
        </p:txBody>
      </p:sp>
      <p:sp>
        <p:nvSpPr>
          <p:cNvPr id="10" name="contract-card"/>
          <p:cNvSpPr/>
          <p:nvPr/>
        </p:nvSpPr>
        <p:spPr>
          <a:xfrm>
            <a:off x="8382000" y="3098800"/>
            <a:ext cx="7112000" cy="3505200"/>
          </a:xfrm>
          <a:prstGeom prst="roundRect">
            <a:avLst>
              <a:gd name="adj" fmla="val 2899"/>
            </a:avLst>
          </a:prstGeom>
          <a:solidFill>
            <a:srgbClr val="EAF5FC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11" name="contract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800" y="3581400"/>
            <a:ext cx="609600" cy="609600"/>
          </a:xfrm>
          <a:prstGeom prst="rect">
            <a:avLst/>
          </a:prstGeom>
        </p:spPr>
      </p:pic>
      <p:sp>
        <p:nvSpPr>
          <p:cNvPr id="12" name="contract-title"/>
          <p:cNvSpPr/>
          <p:nvPr/>
        </p:nvSpPr>
        <p:spPr>
          <a:xfrm>
            <a:off x="8813800" y="4572000"/>
            <a:ext cx="546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Umowa na czas nieokreślony</a:t>
            </a:r>
            <a:endParaRPr lang="en-US" sz="2600" dirty="0"/>
          </a:p>
        </p:txBody>
      </p:sp>
      <p:sp>
        <p:nvSpPr>
          <p:cNvPr id="13" name="contract-copy"/>
          <p:cNvSpPr/>
          <p:nvPr/>
        </p:nvSpPr>
        <p:spPr>
          <a:xfrm>
            <a:off x="8813800" y="5346700"/>
            <a:ext cx="5562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8"/>
              </a:lnSpc>
              <a:buNone/>
            </a:pPr>
            <a:r>
              <a:rPr lang="en-US" altLang="en-US" sz="1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Klient może wypowiedzieć umowę w każdej chwili ze skutkiem natychmiastowym. Nie wiąże się z góry ustalonym okresem współpracy.</a:t>
            </a:r>
            <a:endParaRPr lang="en-US" sz="1900" dirty="0"/>
          </a:p>
        </p:txBody>
      </p:sp>
      <p:sp>
        <p:nvSpPr>
          <p:cNvPr id="14" name="assurance-band"/>
          <p:cNvSpPr/>
          <p:nvPr/>
        </p:nvSpPr>
        <p:spPr>
          <a:xfrm>
            <a:off x="762000" y="7137400"/>
            <a:ext cx="14732000" cy="736600"/>
          </a:xfrm>
          <a:prstGeom prst="roundRect">
            <a:avLst>
              <a:gd name="adj" fmla="val 10345"/>
            </a:avLst>
          </a:prstGeom>
          <a:solidFill>
            <a:srgbClr val="0F172A"/>
          </a:solidFill>
          <a:ln/>
        </p:spPr>
      </p:sp>
      <p:pic>
        <p:nvPicPr>
          <p:cNvPr id="15" name="assurance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7327900"/>
            <a:ext cx="355600" cy="355600"/>
          </a:xfrm>
          <a:prstGeom prst="rect">
            <a:avLst/>
          </a:prstGeom>
        </p:spPr>
      </p:pic>
      <p:sp>
        <p:nvSpPr>
          <p:cNvPr id="16" name="assurance-copy"/>
          <p:cNvSpPr/>
          <p:nvPr/>
        </p:nvSpPr>
        <p:spPr>
          <a:xfrm>
            <a:off x="1676400" y="7302500"/>
            <a:ext cx="1314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Bierzemy odpowiedzialność za uruchomienie i poprawne działanie uzgodnionego procesu obsługi telefonu.</a:t>
            </a:r>
            <a:endParaRPr lang="en-US" sz="1800" dirty="0"/>
          </a:p>
        </p:txBody>
      </p:sp>
      <p:sp>
        <p:nvSpPr>
          <p:cNvPr id="17" name="footer-brand"/>
          <p:cNvSpPr/>
          <p:nvPr/>
        </p:nvSpPr>
        <p:spPr>
          <a:xfrm>
            <a:off x="762000" y="85852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RECEPCJA TELEFONICZNA AI</a:t>
            </a:r>
            <a:endParaRPr lang="en-US" sz="1300" dirty="0"/>
          </a:p>
        </p:txBody>
      </p:sp>
      <p:sp>
        <p:nvSpPr>
          <p:cNvPr id="18" name="footer-number"/>
          <p:cNvSpPr/>
          <p:nvPr/>
        </p:nvSpPr>
        <p:spPr>
          <a:xfrm>
            <a:off x="14859000" y="8585200"/>
            <a:ext cx="63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-accent"/>
          <p:cNvSpPr/>
          <p:nvPr/>
        </p:nvSpPr>
        <p:spPr>
          <a:xfrm>
            <a:off x="762000" y="914400"/>
            <a:ext cx="1397000" cy="635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closing-eyebrow"/>
          <p:cNvSpPr/>
          <p:nvPr/>
        </p:nvSpPr>
        <p:spPr>
          <a:xfrm>
            <a:off x="762000" y="1320800"/>
            <a:ext cx="571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NASTĘPNY KROK</a:t>
            </a:r>
            <a:endParaRPr lang="en-US" sz="1600" dirty="0"/>
          </a:p>
        </p:txBody>
      </p:sp>
      <p:sp>
        <p:nvSpPr>
          <p:cNvPr id="4" name="closing-title"/>
          <p:cNvSpPr/>
          <p:nvPr/>
        </p:nvSpPr>
        <p:spPr>
          <a:xfrm>
            <a:off x="762000" y="1879600"/>
            <a:ext cx="10795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84"/>
              </a:lnSpc>
              <a:buNone/>
            </a:pPr>
            <a:r>
              <a:rPr lang="en-US" altLang="en-US" sz="48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Ustalmy, czy telefon jest miejscem, w którym tracisz szanse.</a:t>
            </a:r>
            <a:endParaRPr lang="en-US" sz="4800" dirty="0"/>
          </a:p>
        </p:txBody>
      </p:sp>
      <p:sp>
        <p:nvSpPr>
          <p:cNvPr id="5" name="closing-subtitle"/>
          <p:cNvSpPr/>
          <p:nvPr/>
        </p:nvSpPr>
        <p:spPr>
          <a:xfrm>
            <a:off x="762000" y="3111500"/>
            <a:ext cx="965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2"/>
              </a:lnSpc>
              <a:buNone/>
            </a:pPr>
            <a:r>
              <a:rPr lang="en-US" altLang="en-US" sz="19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trakcie 20-minutowej rozmowy rozmawiamy o Twojej firmie, obecnym sposobie obsługi telefonów oraz oczekiwaniach wobec automatyzacji.</a:t>
            </a:r>
            <a:endParaRPr lang="en-US" sz="1900" dirty="0"/>
          </a:p>
        </p:txBody>
      </p:sp>
      <p:sp>
        <p:nvSpPr>
          <p:cNvPr id="6" name="step-one-card"/>
          <p:cNvSpPr/>
          <p:nvPr/>
        </p:nvSpPr>
        <p:spPr>
          <a:xfrm>
            <a:off x="762000" y="4292600"/>
            <a:ext cx="3048000" cy="147320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tep-one-number"/>
          <p:cNvSpPr/>
          <p:nvPr/>
        </p:nvSpPr>
        <p:spPr>
          <a:xfrm>
            <a:off x="1041400" y="4572000"/>
            <a:ext cx="444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step-one-text"/>
          <p:cNvSpPr/>
          <p:nvPr/>
        </p:nvSpPr>
        <p:spPr>
          <a:xfrm>
            <a:off x="1041400" y="5054600"/>
            <a:ext cx="228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Rozmowa wstępna</a:t>
            </a:r>
            <a:endParaRPr lang="en-US" sz="1800" dirty="0"/>
          </a:p>
        </p:txBody>
      </p:sp>
      <p:sp>
        <p:nvSpPr>
          <p:cNvPr id="9" name="closing-arrow-one"/>
          <p:cNvSpPr/>
          <p:nvPr/>
        </p:nvSpPr>
        <p:spPr>
          <a:xfrm>
            <a:off x="3835400" y="5029200"/>
            <a:ext cx="711200" cy="9144"/>
          </a:xfrm>
          <a:prstGeom prst="line">
            <a:avLst/>
          </a:prstGeom>
          <a:ln w="38100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10" name="step-two-card"/>
          <p:cNvSpPr/>
          <p:nvPr/>
        </p:nvSpPr>
        <p:spPr>
          <a:xfrm>
            <a:off x="4826000" y="4292600"/>
            <a:ext cx="3048000" cy="147320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tep-two-number"/>
          <p:cNvSpPr/>
          <p:nvPr/>
        </p:nvSpPr>
        <p:spPr>
          <a:xfrm>
            <a:off x="5105400" y="4572000"/>
            <a:ext cx="444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500" dirty="0"/>
          </a:p>
        </p:txBody>
      </p:sp>
      <p:sp>
        <p:nvSpPr>
          <p:cNvPr id="12" name="step-two-text"/>
          <p:cNvSpPr/>
          <p:nvPr/>
        </p:nvSpPr>
        <p:spPr>
          <a:xfrm>
            <a:off x="5105400" y="5054600"/>
            <a:ext cx="228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z Twoją firmą</a:t>
            </a:r>
            <a:endParaRPr lang="en-US" sz="1900" dirty="0"/>
          </a:p>
        </p:txBody>
      </p:sp>
      <p:sp>
        <p:nvSpPr>
          <p:cNvPr id="13" name="closing-arrow-two"/>
          <p:cNvSpPr/>
          <p:nvPr/>
        </p:nvSpPr>
        <p:spPr>
          <a:xfrm>
            <a:off x="7899400" y="5029200"/>
            <a:ext cx="711200" cy="9144"/>
          </a:xfrm>
          <a:prstGeom prst="line">
            <a:avLst/>
          </a:prstGeom>
          <a:ln w="38100">
            <a:solidFill>
              <a:srgbClr val="0284C7"/>
            </a:solidFill>
            <a:prstDash val="solid"/>
            <a:tailEnd type="triangle"/>
          </a:ln>
        </p:spPr>
      </p:sp>
      <p:sp>
        <p:nvSpPr>
          <p:cNvPr id="14" name="step-three-card"/>
          <p:cNvSpPr/>
          <p:nvPr/>
        </p:nvSpPr>
        <p:spPr>
          <a:xfrm>
            <a:off x="8890000" y="4292600"/>
            <a:ext cx="3048000" cy="1473200"/>
          </a:xfrm>
          <a:prstGeom prst="roundRect">
            <a:avLst>
              <a:gd name="adj" fmla="val 6897"/>
            </a:avLst>
          </a:prstGeom>
          <a:solidFill>
            <a:srgbClr val="EAF5FC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step-three-number"/>
          <p:cNvSpPr/>
          <p:nvPr/>
        </p:nvSpPr>
        <p:spPr>
          <a:xfrm>
            <a:off x="9169400" y="4572000"/>
            <a:ext cx="444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b="1" dirty="0">
                <a:solidFill>
                  <a:srgbClr val="0284C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500" dirty="0"/>
          </a:p>
        </p:txBody>
      </p:sp>
      <p:sp>
        <p:nvSpPr>
          <p:cNvPr id="16" name="step-three-text"/>
          <p:cNvSpPr/>
          <p:nvPr/>
        </p:nvSpPr>
        <p:spPr>
          <a:xfrm>
            <a:off x="9169400" y="5054600"/>
            <a:ext cx="2349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Uruchomienie</a:t>
            </a:r>
            <a:endParaRPr lang="en-US" sz="1900" dirty="0"/>
          </a:p>
        </p:txBody>
      </p:sp>
      <p:sp>
        <p:nvSpPr>
          <p:cNvPr id="17" name="contact-card"/>
          <p:cNvSpPr/>
          <p:nvPr/>
        </p:nvSpPr>
        <p:spPr>
          <a:xfrm>
            <a:off x="762000" y="6731000"/>
            <a:ext cx="10033000" cy="1320800"/>
          </a:xfrm>
          <a:prstGeom prst="roundRect">
            <a:avLst>
              <a:gd name="adj" fmla="val 9615"/>
            </a:avLst>
          </a:prstGeom>
          <a:solidFill>
            <a:srgbClr val="0F172A"/>
          </a:solidFill>
          <a:ln/>
        </p:spPr>
      </p:sp>
      <p:pic>
        <p:nvPicPr>
          <p:cNvPr id="18" name="contac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7137400"/>
            <a:ext cx="508000" cy="508000"/>
          </a:xfrm>
          <a:prstGeom prst="rect">
            <a:avLst/>
          </a:prstGeom>
        </p:spPr>
      </p:pic>
      <p:sp>
        <p:nvSpPr>
          <p:cNvPr id="19" name="contact-title"/>
          <p:cNvSpPr/>
          <p:nvPr/>
        </p:nvSpPr>
        <p:spPr>
          <a:xfrm>
            <a:off x="2006600" y="6985000"/>
            <a:ext cx="698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Umów 20-minutową rozmowę</a:t>
            </a:r>
            <a:endParaRPr lang="en-US" sz="2000" dirty="0"/>
          </a:p>
        </p:txBody>
      </p:sp>
      <p:sp>
        <p:nvSpPr>
          <p:cNvPr id="20" name="contact-details"/>
          <p:cNvSpPr/>
          <p:nvPr/>
        </p:nvSpPr>
        <p:spPr>
          <a:xfrm>
            <a:off x="2006600" y="74930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DCEE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[imię i nazwisko]  •  [telefon]  •  [e-mail]  •  [link do kalendarza]</a:t>
            </a:r>
            <a:endParaRPr lang="en-US" sz="1700" dirty="0"/>
          </a:p>
        </p:txBody>
      </p:sp>
      <p:pic>
        <p:nvPicPr>
          <p:cNvPr id="21" name="closing-decor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2446000" y="3111500"/>
            <a:ext cx="2794000" cy="2794000"/>
          </a:xfrm>
          <a:prstGeom prst="rect">
            <a:avLst/>
          </a:prstGeom>
        </p:spPr>
      </p:pic>
      <p:sp>
        <p:nvSpPr>
          <p:cNvPr id="22" name="closing-footer"/>
          <p:cNvSpPr/>
          <p:nvPr/>
        </p:nvSpPr>
        <p:spPr>
          <a:xfrm>
            <a:off x="762000" y="85852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RECEPCJA TELEFONICZNA AI • OFERTA PRODUKTOWA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Każdy wartościowy telefon powinien dostać odpowiedź</dc:title>
  <dc:subject>Każdy wartościowy telefon powinien dostać odpowiedź</dc:subject>
  <dc:creator>Manus</dc:creator>
  <cp:lastModifiedBy>Manus</cp:lastModifiedBy>
  <cp:revision>1</cp:revision>
  <dcterms:created xsi:type="dcterms:W3CDTF">2026-08-15T12:43:59Z</dcterms:created>
  <dcterms:modified xsi:type="dcterms:W3CDTF">2026-08-15T12:43:59Z</dcterms:modified>
</cp:coreProperties>
</file>